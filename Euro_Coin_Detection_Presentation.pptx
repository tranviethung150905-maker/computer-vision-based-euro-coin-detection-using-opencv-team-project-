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Bold" charset="1" panose="020B0803030501040103"/>
      <p:regular r:id="rId14"/>
    </p:embeddedFon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https://www.standardsapplied.com/nonlinear-curve-fitting-calculator.html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2396" y="1238872"/>
            <a:ext cx="15223207" cy="8019428"/>
            <a:chOff x="0" y="0"/>
            <a:chExt cx="4009404" cy="2112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09404" cy="2112113"/>
            </a:xfrm>
            <a:custGeom>
              <a:avLst/>
              <a:gdLst/>
              <a:ahLst/>
              <a:cxnLst/>
              <a:rect r="r" b="b" t="t" l="l"/>
              <a:pathLst>
                <a:path h="2112113" w="4009404">
                  <a:moveTo>
                    <a:pt x="0" y="0"/>
                  </a:moveTo>
                  <a:lnTo>
                    <a:pt x="4009404" y="0"/>
                  </a:lnTo>
                  <a:lnTo>
                    <a:pt x="4009404" y="2112113"/>
                  </a:lnTo>
                  <a:lnTo>
                    <a:pt x="0" y="211211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09404" cy="2150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09543" y="1841967"/>
            <a:ext cx="10981036" cy="24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IMAGE PROCESSING 2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Topic: Coin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23375" y="4814701"/>
            <a:ext cx="475337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Member</a:t>
            </a:r>
          </a:p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Tran Viet Hung _ 229050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Tran Viet Quan _ 229051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3832" y="7190504"/>
            <a:ext cx="441245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Hochschule Heilbronn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76" y="204420"/>
            <a:ext cx="17934964" cy="1068667"/>
            <a:chOff x="0" y="0"/>
            <a:chExt cx="4723612" cy="281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612" cy="281460"/>
            </a:xfrm>
            <a:custGeom>
              <a:avLst/>
              <a:gdLst/>
              <a:ahLst/>
              <a:cxnLst/>
              <a:rect r="r" b="b" t="t" l="l"/>
              <a:pathLst>
                <a:path h="28146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281460"/>
                  </a:lnTo>
                  <a:lnTo>
                    <a:pt x="0" y="28146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3612" cy="319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88818" y="1550067"/>
            <a:ext cx="2586079" cy="2586079"/>
          </a:xfrm>
          <a:custGeom>
            <a:avLst/>
            <a:gdLst/>
            <a:ahLst/>
            <a:cxnLst/>
            <a:rect r="r" b="b" t="t" l="l"/>
            <a:pathLst>
              <a:path h="2586079" w="2586079">
                <a:moveTo>
                  <a:pt x="0" y="0"/>
                </a:moveTo>
                <a:lnTo>
                  <a:pt x="2586080" y="0"/>
                </a:lnTo>
                <a:lnTo>
                  <a:pt x="2586080" y="2586080"/>
                </a:lnTo>
                <a:lnTo>
                  <a:pt x="0" y="258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25518" y="6843029"/>
            <a:ext cx="3592124" cy="2694093"/>
          </a:xfrm>
          <a:custGeom>
            <a:avLst/>
            <a:gdLst/>
            <a:ahLst/>
            <a:cxnLst/>
            <a:rect r="r" b="b" t="t" l="l"/>
            <a:pathLst>
              <a:path h="2694093" w="3592124">
                <a:moveTo>
                  <a:pt x="0" y="0"/>
                </a:moveTo>
                <a:lnTo>
                  <a:pt x="3592125" y="0"/>
                </a:lnTo>
                <a:lnTo>
                  <a:pt x="3592125" y="2694093"/>
                </a:lnTo>
                <a:lnTo>
                  <a:pt x="0" y="2694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76208" y="7673473"/>
            <a:ext cx="1455140" cy="1455140"/>
          </a:xfrm>
          <a:custGeom>
            <a:avLst/>
            <a:gdLst/>
            <a:ahLst/>
            <a:cxnLst/>
            <a:rect r="r" b="b" t="t" l="l"/>
            <a:pathLst>
              <a:path h="1455140" w="1455140">
                <a:moveTo>
                  <a:pt x="0" y="0"/>
                </a:moveTo>
                <a:lnTo>
                  <a:pt x="1455141" y="0"/>
                </a:lnTo>
                <a:lnTo>
                  <a:pt x="1455141" y="1455140"/>
                </a:lnTo>
                <a:lnTo>
                  <a:pt x="0" y="1455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63280" y="7841185"/>
            <a:ext cx="1268481" cy="1268481"/>
          </a:xfrm>
          <a:custGeom>
            <a:avLst/>
            <a:gdLst/>
            <a:ahLst/>
            <a:cxnLst/>
            <a:rect r="r" b="b" t="t" l="l"/>
            <a:pathLst>
              <a:path h="1268481" w="1268481">
                <a:moveTo>
                  <a:pt x="0" y="0"/>
                </a:moveTo>
                <a:lnTo>
                  <a:pt x="1268481" y="0"/>
                </a:lnTo>
                <a:lnTo>
                  <a:pt x="1268481" y="1268481"/>
                </a:lnTo>
                <a:lnTo>
                  <a:pt x="0" y="1268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6117" y="4628047"/>
            <a:ext cx="4796682" cy="3597512"/>
          </a:xfrm>
          <a:custGeom>
            <a:avLst/>
            <a:gdLst/>
            <a:ahLst/>
            <a:cxnLst/>
            <a:rect r="r" b="b" t="t" l="l"/>
            <a:pathLst>
              <a:path h="3597512" w="4796682">
                <a:moveTo>
                  <a:pt x="0" y="0"/>
                </a:moveTo>
                <a:lnTo>
                  <a:pt x="4796682" y="0"/>
                </a:lnTo>
                <a:lnTo>
                  <a:pt x="4796682" y="3597512"/>
                </a:lnTo>
                <a:lnTo>
                  <a:pt x="0" y="3597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400000">
            <a:off x="11080301" y="7026129"/>
            <a:ext cx="693118" cy="607604"/>
            <a:chOff x="0" y="0"/>
            <a:chExt cx="608471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8471" cy="533400"/>
            </a:xfrm>
            <a:custGeom>
              <a:avLst/>
              <a:gdLst/>
              <a:ahLst/>
              <a:cxnLst/>
              <a:rect r="r" b="b" t="t" l="l"/>
              <a:pathLst>
                <a:path h="533400" w="608471">
                  <a:moveTo>
                    <a:pt x="239386" y="166418"/>
                  </a:moveTo>
                  <a:lnTo>
                    <a:pt x="608471" y="166418"/>
                  </a:lnTo>
                  <a:lnTo>
                    <a:pt x="608471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0650" y="127000"/>
              <a:ext cx="487821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05324" y="254567"/>
            <a:ext cx="1196382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Overal pipeline of the program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07985" y="3955489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607985" y="3955489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37160" y="2096893"/>
            <a:ext cx="563082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Run the program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Put the 2 euro coin in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press C to start calibrate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27581" y="4735646"/>
            <a:ext cx="12079885" cy="211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Garet Bold"/>
                <a:ea typeface="Garet Bold"/>
                <a:cs typeface="Garet Bold"/>
                <a:sym typeface="Garet Bold"/>
              </a:rPr>
              <a:t> Press D to start detect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Garet Bold"/>
                <a:ea typeface="Garet Bold"/>
                <a:cs typeface="Garet Bold"/>
                <a:sym typeface="Garet Bold"/>
              </a:rPr>
              <a:t> Put coin in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Garet Bold"/>
                <a:ea typeface="Garet Bold"/>
                <a:cs typeface="Garet Bold"/>
                <a:sym typeface="Garet Bold"/>
              </a:rPr>
              <a:t> The program will detect circular objects and classfies them into 3 main categories</a:t>
            </a:r>
          </a:p>
        </p:txBody>
      </p:sp>
      <p:grpSp>
        <p:nvGrpSpPr>
          <p:cNvPr name="Group 18" id="18"/>
          <p:cNvGrpSpPr/>
          <p:nvPr/>
        </p:nvGrpSpPr>
        <p:grpSpPr>
          <a:xfrm rot="-1228688">
            <a:off x="8243446" y="7166530"/>
            <a:ext cx="2487581" cy="607604"/>
            <a:chOff x="0" y="0"/>
            <a:chExt cx="2183785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3785" cy="533400"/>
            </a:xfrm>
            <a:custGeom>
              <a:avLst/>
              <a:gdLst/>
              <a:ahLst/>
              <a:cxnLst/>
              <a:rect r="r" b="b" t="t" l="l"/>
              <a:pathLst>
                <a:path h="533400" w="2183785">
                  <a:moveTo>
                    <a:pt x="239386" y="166418"/>
                  </a:moveTo>
                  <a:lnTo>
                    <a:pt x="2183785" y="166418"/>
                  </a:lnTo>
                  <a:lnTo>
                    <a:pt x="2183785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27000"/>
              <a:ext cx="2063135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9833031">
            <a:off x="12030559" y="6969438"/>
            <a:ext cx="2487581" cy="607604"/>
            <a:chOff x="0" y="0"/>
            <a:chExt cx="2183785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3785" cy="533400"/>
            </a:xfrm>
            <a:custGeom>
              <a:avLst/>
              <a:gdLst/>
              <a:ahLst/>
              <a:cxnLst/>
              <a:rect r="r" b="b" t="t" l="l"/>
              <a:pathLst>
                <a:path h="533400" w="2183785">
                  <a:moveTo>
                    <a:pt x="239386" y="166418"/>
                  </a:moveTo>
                  <a:lnTo>
                    <a:pt x="2183785" y="166418"/>
                  </a:lnTo>
                  <a:lnTo>
                    <a:pt x="2183785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127000"/>
              <a:ext cx="2063135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74723" y="9125676"/>
            <a:ext cx="179516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None euro coin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02807" y="9068381"/>
            <a:ext cx="272682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 coin with its value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53591" y="8929009"/>
            <a:ext cx="100478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76" y="204420"/>
            <a:ext cx="17934964" cy="1068667"/>
            <a:chOff x="0" y="0"/>
            <a:chExt cx="4723612" cy="281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612" cy="281460"/>
            </a:xfrm>
            <a:custGeom>
              <a:avLst/>
              <a:gdLst/>
              <a:ahLst/>
              <a:cxnLst/>
              <a:rect r="r" b="b" t="t" l="l"/>
              <a:pathLst>
                <a:path h="28146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281460"/>
                  </a:lnTo>
                  <a:lnTo>
                    <a:pt x="0" y="28146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3612" cy="319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409264"/>
            <a:ext cx="4688892" cy="3700423"/>
          </a:xfrm>
          <a:custGeom>
            <a:avLst/>
            <a:gdLst/>
            <a:ahLst/>
            <a:cxnLst/>
            <a:rect r="r" b="b" t="t" l="l"/>
            <a:pathLst>
              <a:path h="3700423" w="4688892">
                <a:moveTo>
                  <a:pt x="0" y="0"/>
                </a:moveTo>
                <a:lnTo>
                  <a:pt x="4688892" y="0"/>
                </a:lnTo>
                <a:lnTo>
                  <a:pt x="4688892" y="3700422"/>
                </a:lnTo>
                <a:lnTo>
                  <a:pt x="0" y="37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26DA26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98941" y="6487032"/>
            <a:ext cx="5203458" cy="3455111"/>
          </a:xfrm>
          <a:custGeom>
            <a:avLst/>
            <a:gdLst/>
            <a:ahLst/>
            <a:cxnLst/>
            <a:rect r="r" b="b" t="t" l="l"/>
            <a:pathLst>
              <a:path h="3455111" w="5203458">
                <a:moveTo>
                  <a:pt x="0" y="0"/>
                </a:moveTo>
                <a:lnTo>
                  <a:pt x="5203458" y="0"/>
                </a:lnTo>
                <a:lnTo>
                  <a:pt x="5203458" y="3455111"/>
                </a:lnTo>
                <a:lnTo>
                  <a:pt x="0" y="3455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58" t="0" r="-1858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372967" y="6393151"/>
            <a:ext cx="4959192" cy="3455111"/>
          </a:xfrm>
          <a:custGeom>
            <a:avLst/>
            <a:gdLst/>
            <a:ahLst/>
            <a:cxnLst/>
            <a:rect r="r" b="b" t="t" l="l"/>
            <a:pathLst>
              <a:path h="3455111" w="4959192">
                <a:moveTo>
                  <a:pt x="0" y="0"/>
                </a:moveTo>
                <a:lnTo>
                  <a:pt x="4959192" y="0"/>
                </a:lnTo>
                <a:lnTo>
                  <a:pt x="4959192" y="3455111"/>
                </a:lnTo>
                <a:lnTo>
                  <a:pt x="0" y="3455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-10800000">
            <a:off x="4745293" y="1463114"/>
            <a:ext cx="6451444" cy="607604"/>
            <a:chOff x="0" y="0"/>
            <a:chExt cx="5663561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63561" cy="533400"/>
            </a:xfrm>
            <a:custGeom>
              <a:avLst/>
              <a:gdLst/>
              <a:ahLst/>
              <a:cxnLst/>
              <a:rect r="r" b="b" t="t" l="l"/>
              <a:pathLst>
                <a:path h="533400" w="5663561">
                  <a:moveTo>
                    <a:pt x="239386" y="166418"/>
                  </a:moveTo>
                  <a:lnTo>
                    <a:pt x="5663561" y="166418"/>
                  </a:lnTo>
                  <a:lnTo>
                    <a:pt x="5663561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15000">
                  <a:srgbClr val="C90003">
                    <a:alpha val="100000"/>
                  </a:srgbClr>
                </a:gs>
                <a:gs pos="50000">
                  <a:srgbClr val="185100">
                    <a:alpha val="100000"/>
                  </a:srgbClr>
                </a:gs>
                <a:gs pos="85000">
                  <a:srgbClr val="64AA38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5542911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52563" y="2261217"/>
            <a:ext cx="5739747" cy="3717844"/>
          </a:xfrm>
          <a:custGeom>
            <a:avLst/>
            <a:gdLst/>
            <a:ahLst/>
            <a:cxnLst/>
            <a:rect r="r" b="b" t="t" l="l"/>
            <a:pathLst>
              <a:path h="3717844" w="5739747">
                <a:moveTo>
                  <a:pt x="0" y="0"/>
                </a:moveTo>
                <a:lnTo>
                  <a:pt x="5739747" y="0"/>
                </a:lnTo>
                <a:lnTo>
                  <a:pt x="5739747" y="3717845"/>
                </a:lnTo>
                <a:lnTo>
                  <a:pt x="0" y="37178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1607985" y="3955489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607985" y="3955489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870650" y="254567"/>
            <a:ext cx="1196382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Overview of how the program run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06137" y="1386914"/>
            <a:ext cx="227756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6DA2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Calibrate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6926" y="1386914"/>
            <a:ext cx="168632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204" y="3514209"/>
            <a:ext cx="1786818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Using Median Filter to eliminate noise and smooth the gray image.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Adaptive Threshold convert the image to binary image and adjust the threshold automatically.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Using a brush to erode or close some gaps/holes.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518" y="286229"/>
            <a:ext cx="17934964" cy="1443383"/>
            <a:chOff x="0" y="0"/>
            <a:chExt cx="4723612" cy="3801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3612" cy="380150"/>
            </a:xfrm>
            <a:custGeom>
              <a:avLst/>
              <a:gdLst/>
              <a:ahLst/>
              <a:cxnLst/>
              <a:rect r="r" b="b" t="t" l="l"/>
              <a:pathLst>
                <a:path h="38015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380150"/>
                  </a:lnTo>
                  <a:lnTo>
                    <a:pt x="0" y="38015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23612" cy="418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30524" y="4638568"/>
            <a:ext cx="2911294" cy="2911294"/>
          </a:xfrm>
          <a:custGeom>
            <a:avLst/>
            <a:gdLst/>
            <a:ahLst/>
            <a:cxnLst/>
            <a:rect r="r" b="b" t="t" l="l"/>
            <a:pathLst>
              <a:path h="2911294" w="2911294">
                <a:moveTo>
                  <a:pt x="0" y="0"/>
                </a:moveTo>
                <a:lnTo>
                  <a:pt x="2911294" y="0"/>
                </a:lnTo>
                <a:lnTo>
                  <a:pt x="2911294" y="2911294"/>
                </a:lnTo>
                <a:lnTo>
                  <a:pt x="0" y="291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39795" y="6824464"/>
            <a:ext cx="4090949" cy="1245974"/>
          </a:xfrm>
          <a:custGeom>
            <a:avLst/>
            <a:gdLst/>
            <a:ahLst/>
            <a:cxnLst/>
            <a:rect r="r" b="b" t="t" l="l"/>
            <a:pathLst>
              <a:path h="1245974" w="4090949">
                <a:moveTo>
                  <a:pt x="0" y="0"/>
                </a:moveTo>
                <a:lnTo>
                  <a:pt x="4090950" y="0"/>
                </a:lnTo>
                <a:lnTo>
                  <a:pt x="4090950" y="1245975"/>
                </a:lnTo>
                <a:lnTo>
                  <a:pt x="0" y="1245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1706" y="2396609"/>
            <a:ext cx="508718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800AD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3999">
                <a:solidFill>
                  <a:srgbClr val="1800AD"/>
                </a:solidFill>
                <a:latin typeface="Garet Bold"/>
                <a:ea typeface="Garet Bold"/>
                <a:cs typeface="Garet Bold"/>
                <a:sym typeface="Garet Bold"/>
              </a:rPr>
              <a:t>daptive threshold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706" y="5424289"/>
            <a:ext cx="2479358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800AD"/>
                </a:solidFill>
                <a:latin typeface="Garet Bold"/>
                <a:ea typeface="Garet Bold"/>
                <a:cs typeface="Garet Bold"/>
                <a:sym typeface="Garet Bold"/>
              </a:rPr>
              <a:t>Contours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8204" y="6537672"/>
            <a:ext cx="10365343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Extract the area and perimeter of the shape.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Calculate circularity of the coin.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If 0.62 &lt; circularity &lt;= 1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⟶ Draw contour and extract features (radius and center)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7636" y="544513"/>
            <a:ext cx="881272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Calibration mode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518" y="286229"/>
            <a:ext cx="17934964" cy="1443383"/>
            <a:chOff x="0" y="0"/>
            <a:chExt cx="4723612" cy="380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612" cy="380150"/>
            </a:xfrm>
            <a:custGeom>
              <a:avLst/>
              <a:gdLst/>
              <a:ahLst/>
              <a:cxnLst/>
              <a:rect r="r" b="b" t="t" l="l"/>
              <a:pathLst>
                <a:path h="38015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380150"/>
                  </a:lnTo>
                  <a:lnTo>
                    <a:pt x="0" y="38015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3612" cy="418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72342" y="6014038"/>
            <a:ext cx="6435155" cy="4272962"/>
          </a:xfrm>
          <a:custGeom>
            <a:avLst/>
            <a:gdLst/>
            <a:ahLst/>
            <a:cxnLst/>
            <a:rect r="r" b="b" t="t" l="l"/>
            <a:pathLst>
              <a:path h="4272962" w="6435155">
                <a:moveTo>
                  <a:pt x="0" y="0"/>
                </a:moveTo>
                <a:lnTo>
                  <a:pt x="6435155" y="0"/>
                </a:lnTo>
                <a:lnTo>
                  <a:pt x="6435155" y="4272962"/>
                </a:lnTo>
                <a:lnTo>
                  <a:pt x="0" y="427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8" t="0" r="-1858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082167" y="3572675"/>
            <a:ext cx="4494548" cy="2740812"/>
          </a:xfrm>
          <a:custGeom>
            <a:avLst/>
            <a:gdLst/>
            <a:ahLst/>
            <a:cxnLst/>
            <a:rect r="r" b="b" t="t" l="l"/>
            <a:pathLst>
              <a:path h="2740812" w="4494548">
                <a:moveTo>
                  <a:pt x="0" y="0"/>
                </a:moveTo>
                <a:lnTo>
                  <a:pt x="4494547" y="0"/>
                </a:lnTo>
                <a:lnTo>
                  <a:pt x="4494547" y="2740811"/>
                </a:lnTo>
                <a:lnTo>
                  <a:pt x="0" y="2740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737636" y="544513"/>
            <a:ext cx="881272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Detection mode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9680" y="1824736"/>
            <a:ext cx="3450074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800AD"/>
                </a:solidFill>
                <a:latin typeface="Garet Bold"/>
                <a:ea typeface="Garet Bold"/>
                <a:cs typeface="Garet Bold"/>
                <a:sym typeface="Garet Bold"/>
              </a:rPr>
              <a:t>Hough Circle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1017" y="6659667"/>
            <a:ext cx="506230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800AD"/>
                </a:solidFill>
                <a:latin typeface="Garet Bold"/>
                <a:ea typeface="Garet Bold"/>
                <a:cs typeface="Garet Bold"/>
                <a:sym typeface="Garet Bold"/>
              </a:rPr>
              <a:t>Detect inner circle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113" y="2599437"/>
            <a:ext cx="17084495" cy="147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Hough circle’s parameters are calculated using “radius” (in pixel) obtained from calibration mode.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3822" y="3801971"/>
            <a:ext cx="8075304" cy="34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standardsapplied.com/nonlinear-curve-fitting-calculator.html"/>
              </a:rPr>
              <a:t>https://www.standardsapplied.com/nonlinear-curve-fitting-calculator.html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23822" y="5105400"/>
            <a:ext cx="5408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https://www.graphpad.com/quickcalcs/linear1/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1829" y="4762809"/>
            <a:ext cx="317555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best fit function: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1829" y="3526381"/>
            <a:ext cx="36956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Non-linear best fit function: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377" y="7422236"/>
            <a:ext cx="9342870" cy="196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 the coin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Hough circle again with smaller “maxRadius”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inner circle has saturation &lt; 20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⟶ Holes exist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518" y="286229"/>
            <a:ext cx="17934964" cy="1443383"/>
            <a:chOff x="0" y="0"/>
            <a:chExt cx="4723612" cy="380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612" cy="380150"/>
            </a:xfrm>
            <a:custGeom>
              <a:avLst/>
              <a:gdLst/>
              <a:ahLst/>
              <a:cxnLst/>
              <a:rect r="r" b="b" t="t" l="l"/>
              <a:pathLst>
                <a:path h="38015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380150"/>
                  </a:lnTo>
                  <a:lnTo>
                    <a:pt x="0" y="38015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3612" cy="418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032970" y="2247767"/>
            <a:ext cx="1740867" cy="1020222"/>
            <a:chOff x="0" y="0"/>
            <a:chExt cx="910173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0173" cy="533400"/>
            </a:xfrm>
            <a:custGeom>
              <a:avLst/>
              <a:gdLst/>
              <a:ahLst/>
              <a:cxnLst/>
              <a:rect r="r" b="b" t="t" l="l"/>
              <a:pathLst>
                <a:path h="533400" w="910173">
                  <a:moveTo>
                    <a:pt x="239386" y="166418"/>
                  </a:moveTo>
                  <a:lnTo>
                    <a:pt x="910173" y="166418"/>
                  </a:lnTo>
                  <a:lnTo>
                    <a:pt x="910173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1ADA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27000"/>
              <a:ext cx="789523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983660" y="5212481"/>
            <a:ext cx="2582014" cy="657124"/>
            <a:chOff x="0" y="0"/>
            <a:chExt cx="2040864" cy="5194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5284151" y="5280703"/>
            <a:ext cx="2582014" cy="657124"/>
            <a:chOff x="0" y="0"/>
            <a:chExt cx="2040864" cy="519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8568521" y="5183411"/>
            <a:ext cx="2582014" cy="657124"/>
            <a:chOff x="0" y="0"/>
            <a:chExt cx="2040864" cy="5194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0107514" y="5272902"/>
            <a:ext cx="2582014" cy="657124"/>
            <a:chOff x="0" y="0"/>
            <a:chExt cx="2040864" cy="5194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1635813" y="5272902"/>
            <a:ext cx="2582014" cy="657124"/>
            <a:chOff x="0" y="0"/>
            <a:chExt cx="2040864" cy="5194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3571496" y="5272902"/>
            <a:ext cx="2582014" cy="657124"/>
            <a:chOff x="0" y="0"/>
            <a:chExt cx="2040864" cy="5194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921984" y="5212481"/>
            <a:ext cx="2582014" cy="657124"/>
            <a:chOff x="0" y="0"/>
            <a:chExt cx="2040864" cy="5194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421263" y="5183411"/>
            <a:ext cx="2582014" cy="657124"/>
            <a:chOff x="0" y="0"/>
            <a:chExt cx="2040864" cy="5194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0864" cy="519401"/>
            </a:xfrm>
            <a:custGeom>
              <a:avLst/>
              <a:gdLst/>
              <a:ahLst/>
              <a:cxnLst/>
              <a:rect r="r" b="b" t="t" l="l"/>
              <a:pathLst>
                <a:path h="519401" w="2040864">
                  <a:moveTo>
                    <a:pt x="239386" y="166327"/>
                  </a:moveTo>
                  <a:lnTo>
                    <a:pt x="2040864" y="166327"/>
                  </a:lnTo>
                  <a:lnTo>
                    <a:pt x="204086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0650" y="127000"/>
              <a:ext cx="192021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02087" y="4220966"/>
            <a:ext cx="13459296" cy="203030"/>
            <a:chOff x="0" y="0"/>
            <a:chExt cx="3544835" cy="534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44835" cy="53473"/>
            </a:xfrm>
            <a:custGeom>
              <a:avLst/>
              <a:gdLst/>
              <a:ahLst/>
              <a:cxnLst/>
              <a:rect r="r" b="b" t="t" l="l"/>
              <a:pathLst>
                <a:path h="53473" w="3544835">
                  <a:moveTo>
                    <a:pt x="0" y="0"/>
                  </a:moveTo>
                  <a:lnTo>
                    <a:pt x="3544835" y="0"/>
                  </a:lnTo>
                  <a:lnTo>
                    <a:pt x="3544835" y="53473"/>
                  </a:lnTo>
                  <a:lnTo>
                    <a:pt x="0" y="5347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544835" cy="91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737636" y="544513"/>
            <a:ext cx="8812728" cy="86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Classification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34986" y="2200933"/>
            <a:ext cx="181626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 class: None euro coin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26003" y="3590212"/>
            <a:ext cx="455480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6DA2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radius, saturation and hue value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8487" y="6854371"/>
            <a:ext cx="7323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euro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50457" y="6899933"/>
            <a:ext cx="7250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euro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85151" y="6899933"/>
            <a:ext cx="95470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50 cent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46121" y="6854371"/>
            <a:ext cx="8752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 cent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49480" y="6899933"/>
            <a:ext cx="887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 cent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30966" y="6854371"/>
            <a:ext cx="7293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cent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069959" y="6899933"/>
            <a:ext cx="7186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cent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98258" y="6899933"/>
            <a:ext cx="71139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cent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024564" y="6872312"/>
            <a:ext cx="18332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None-euro coin</a:t>
            </a:r>
          </a:p>
        </p:txBody>
      </p:sp>
      <p:grpSp>
        <p:nvGrpSpPr>
          <p:cNvPr name="Group 47" id="47"/>
          <p:cNvGrpSpPr/>
          <p:nvPr/>
        </p:nvGrpSpPr>
        <p:grpSpPr>
          <a:xfrm rot="-5400000">
            <a:off x="13620615" y="5223506"/>
            <a:ext cx="2662204" cy="657124"/>
            <a:chOff x="0" y="0"/>
            <a:chExt cx="2104247" cy="5194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04247" cy="519401"/>
            </a:xfrm>
            <a:custGeom>
              <a:avLst/>
              <a:gdLst/>
              <a:ahLst/>
              <a:cxnLst/>
              <a:rect r="r" b="b" t="t" l="l"/>
              <a:pathLst>
                <a:path h="519401" w="2104247">
                  <a:moveTo>
                    <a:pt x="239386" y="166327"/>
                  </a:moveTo>
                  <a:lnTo>
                    <a:pt x="2104247" y="166327"/>
                  </a:lnTo>
                  <a:lnTo>
                    <a:pt x="2104247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20650" y="127000"/>
              <a:ext cx="1983597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6550524">
            <a:off x="1716522" y="7753458"/>
            <a:ext cx="657804" cy="314836"/>
            <a:chOff x="0" y="0"/>
            <a:chExt cx="1085214" cy="5194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3711856">
            <a:off x="1043408" y="7762677"/>
            <a:ext cx="657804" cy="314836"/>
            <a:chOff x="0" y="0"/>
            <a:chExt cx="1085214" cy="51940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6324208">
            <a:off x="3269068" y="7758474"/>
            <a:ext cx="657804" cy="314836"/>
            <a:chOff x="0" y="0"/>
            <a:chExt cx="1085214" cy="51940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3711856">
            <a:off x="2595954" y="7767693"/>
            <a:ext cx="657804" cy="314836"/>
            <a:chOff x="0" y="0"/>
            <a:chExt cx="1085214" cy="51940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6311865">
            <a:off x="4905519" y="7753458"/>
            <a:ext cx="657804" cy="314836"/>
            <a:chOff x="0" y="0"/>
            <a:chExt cx="1085214" cy="51940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3711856">
            <a:off x="4232405" y="7762677"/>
            <a:ext cx="657804" cy="314836"/>
            <a:chOff x="0" y="0"/>
            <a:chExt cx="1085214" cy="51940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6329134">
            <a:off x="6634331" y="7770756"/>
            <a:ext cx="657804" cy="314836"/>
            <a:chOff x="0" y="0"/>
            <a:chExt cx="1085214" cy="51940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3711856">
            <a:off x="5961217" y="7779975"/>
            <a:ext cx="657804" cy="314836"/>
            <a:chOff x="0" y="0"/>
            <a:chExt cx="1085214" cy="51940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6690319">
            <a:off x="8340402" y="7738926"/>
            <a:ext cx="657804" cy="314836"/>
            <a:chOff x="0" y="0"/>
            <a:chExt cx="1085214" cy="51940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3711856">
            <a:off x="7667288" y="7748145"/>
            <a:ext cx="657804" cy="314836"/>
            <a:chOff x="0" y="0"/>
            <a:chExt cx="1085214" cy="51940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6159925">
            <a:off x="9908884" y="7723390"/>
            <a:ext cx="657804" cy="314836"/>
            <a:chOff x="0" y="0"/>
            <a:chExt cx="1085214" cy="51940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3711856">
            <a:off x="9299800" y="7732518"/>
            <a:ext cx="657804" cy="314836"/>
            <a:chOff x="0" y="0"/>
            <a:chExt cx="1085214" cy="51940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-6327657">
            <a:off x="11359336" y="7770756"/>
            <a:ext cx="657804" cy="314836"/>
            <a:chOff x="0" y="0"/>
            <a:chExt cx="1085214" cy="51940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-3711856">
            <a:off x="10799199" y="7779975"/>
            <a:ext cx="657804" cy="314836"/>
            <a:chOff x="0" y="0"/>
            <a:chExt cx="1085214" cy="51940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-6786971">
            <a:off x="12906873" y="7739090"/>
            <a:ext cx="657804" cy="314836"/>
            <a:chOff x="0" y="0"/>
            <a:chExt cx="1085214" cy="51940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-3711856">
            <a:off x="12320613" y="7748309"/>
            <a:ext cx="657804" cy="314836"/>
            <a:chOff x="0" y="0"/>
            <a:chExt cx="1085214" cy="51940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-7598149">
            <a:off x="15014113" y="7739090"/>
            <a:ext cx="657804" cy="314836"/>
            <a:chOff x="0" y="0"/>
            <a:chExt cx="1085214" cy="51940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-3711856">
            <a:off x="14340999" y="7748309"/>
            <a:ext cx="657804" cy="314836"/>
            <a:chOff x="0" y="0"/>
            <a:chExt cx="1085214" cy="51940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85214" cy="519401"/>
            </a:xfrm>
            <a:custGeom>
              <a:avLst/>
              <a:gdLst/>
              <a:ahLst/>
              <a:cxnLst/>
              <a:rect r="r" b="b" t="t" l="l"/>
              <a:pathLst>
                <a:path h="519401" w="1085214">
                  <a:moveTo>
                    <a:pt x="239386" y="166327"/>
                  </a:moveTo>
                  <a:lnTo>
                    <a:pt x="1085214" y="166327"/>
                  </a:lnTo>
                  <a:lnTo>
                    <a:pt x="1085214" y="353037"/>
                  </a:lnTo>
                  <a:lnTo>
                    <a:pt x="239373" y="353037"/>
                  </a:lnTo>
                  <a:lnTo>
                    <a:pt x="302255" y="519401"/>
                  </a:lnTo>
                  <a:lnTo>
                    <a:pt x="0" y="259701"/>
                  </a:lnTo>
                  <a:lnTo>
                    <a:pt x="302255" y="0"/>
                  </a:lnTo>
                  <a:lnTo>
                    <a:pt x="239386" y="166327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120650" y="127000"/>
              <a:ext cx="964564" cy="22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851866" y="8167375"/>
            <a:ext cx="5781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euro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522029" y="8158798"/>
            <a:ext cx="572382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euro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104394" y="8177498"/>
            <a:ext cx="753622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50 cent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742169" y="8167375"/>
            <a:ext cx="745243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20 cent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7514417" y="8125873"/>
            <a:ext cx="745243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20 cent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197660" y="8143171"/>
            <a:ext cx="575800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cent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637982" y="8216863"/>
            <a:ext cx="612290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 cent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180163" y="8149312"/>
            <a:ext cx="561578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cent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959828" y="8111341"/>
            <a:ext cx="974108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none-euro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coin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3227511" y="8140293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936305" y="8193949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6657273" y="8179843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8366304" y="8126678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9878234" y="8149312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2983387" y="8154519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1389377" y="8163924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5111080" y="8079660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8765186" y="3926947"/>
            <a:ext cx="233961" cy="496139"/>
            <a:chOff x="0" y="0"/>
            <a:chExt cx="61619" cy="13067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1619" cy="130670"/>
            </a:xfrm>
            <a:custGeom>
              <a:avLst/>
              <a:gdLst/>
              <a:ahLst/>
              <a:cxnLst/>
              <a:rect r="r" b="b" t="t" l="l"/>
              <a:pathLst>
                <a:path h="130670" w="61619">
                  <a:moveTo>
                    <a:pt x="0" y="0"/>
                  </a:moveTo>
                  <a:lnTo>
                    <a:pt x="61619" y="0"/>
                  </a:lnTo>
                  <a:lnTo>
                    <a:pt x="61619" y="130670"/>
                  </a:lnTo>
                  <a:lnTo>
                    <a:pt x="0" y="13067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61619" cy="168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1691039" y="8179843"/>
            <a:ext cx="764315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coin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898267" y="7181989"/>
            <a:ext cx="149488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-----------------------------------------------------Check if there is holes -------------------------------------------------------------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518" y="286229"/>
            <a:ext cx="17934964" cy="1443383"/>
            <a:chOff x="0" y="0"/>
            <a:chExt cx="4723612" cy="380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612" cy="380150"/>
            </a:xfrm>
            <a:custGeom>
              <a:avLst/>
              <a:gdLst/>
              <a:ahLst/>
              <a:cxnLst/>
              <a:rect r="r" b="b" t="t" l="l"/>
              <a:pathLst>
                <a:path h="380150" w="4723612">
                  <a:moveTo>
                    <a:pt x="0" y="0"/>
                  </a:moveTo>
                  <a:lnTo>
                    <a:pt x="4723612" y="0"/>
                  </a:lnTo>
                  <a:lnTo>
                    <a:pt x="4723612" y="380150"/>
                  </a:lnTo>
                  <a:lnTo>
                    <a:pt x="0" y="38015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3612" cy="418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37636" y="544513"/>
            <a:ext cx="881272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817" y="2103447"/>
            <a:ext cx="16888483" cy="428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The camera quality is not always stable to remain/detect coins exactly.</a:t>
            </a:r>
          </a:p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If the inner circle is not clear ⟶ it’s claimed to be non-Euro coin.</a:t>
            </a:r>
          </a:p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Reflections from metallic surfaces cause the saturation of inner circle to fluctuate.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       ⟶ Holes not detected.</a:t>
            </a:r>
          </a:p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Coin detection work best if object is placed around the center, not on edge of the image</a:t>
            </a: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Circular object that bigger than the 2 euro coin may not be correctly detected.</a:t>
            </a:r>
          </a:p>
          <a:p>
            <a:pPr algn="l" marL="604516" indent="-302258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1800AD"/>
                </a:solidFill>
                <a:latin typeface="Garet"/>
                <a:ea typeface="Garet"/>
                <a:cs typeface="Garet"/>
                <a:sym typeface="Garet"/>
              </a:rPr>
              <a:t>Only work on certain lighting condition.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62783" y="5794920"/>
            <a:ext cx="6435155" cy="4272962"/>
          </a:xfrm>
          <a:custGeom>
            <a:avLst/>
            <a:gdLst/>
            <a:ahLst/>
            <a:cxnLst/>
            <a:rect r="r" b="b" t="t" l="l"/>
            <a:pathLst>
              <a:path h="4272962" w="6435155">
                <a:moveTo>
                  <a:pt x="0" y="0"/>
                </a:moveTo>
                <a:lnTo>
                  <a:pt x="6435155" y="0"/>
                </a:lnTo>
                <a:lnTo>
                  <a:pt x="6435155" y="4272961"/>
                </a:lnTo>
                <a:lnTo>
                  <a:pt x="0" y="427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8" t="0" r="-1858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2396" y="1238872"/>
            <a:ext cx="15223207" cy="8019428"/>
            <a:chOff x="0" y="0"/>
            <a:chExt cx="4009404" cy="2112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09404" cy="2112113"/>
            </a:xfrm>
            <a:custGeom>
              <a:avLst/>
              <a:gdLst/>
              <a:ahLst/>
              <a:cxnLst/>
              <a:rect r="r" b="b" t="t" l="l"/>
              <a:pathLst>
                <a:path h="2112113" w="4009404">
                  <a:moveTo>
                    <a:pt x="0" y="0"/>
                  </a:moveTo>
                  <a:lnTo>
                    <a:pt x="4009404" y="0"/>
                  </a:lnTo>
                  <a:lnTo>
                    <a:pt x="4009404" y="2112113"/>
                  </a:lnTo>
                  <a:lnTo>
                    <a:pt x="0" y="211211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09404" cy="2150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31967" y="3775076"/>
            <a:ext cx="6024067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DAHNRMI_l-o</dc:identifier>
  <dcterms:modified xsi:type="dcterms:W3CDTF">2011-08-01T06:04:30Z</dcterms:modified>
  <cp:revision>1</cp:revision>
  <dc:title>Image processing presentation_FINAL</dc:title>
</cp:coreProperties>
</file>